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822960"/>
            <a:ext cx="1188720" cy="365760"/>
          </a:xfrm>
          <a:prstGeom prst="line">
            <a:avLst/>
          </a:prstGeom>
          <a:noFill/>
          <a:ln w="19050">
            <a:solidFill>
              <a:srgbClr val="2A4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188720"/>
            <a:ext cx="1645920" cy="731520"/>
          </a:xfrm>
          <a:prstGeom prst="line">
            <a:avLst/>
          </a:prstGeom>
          <a:noFill/>
          <a:ln w="19050">
            <a:solidFill>
              <a:srgbClr val="2A4A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188720"/>
            <a:ext cx="274320" cy="1005840"/>
          </a:xfrm>
          <a:prstGeom prst="line">
            <a:avLst/>
          </a:prstGeom>
          <a:noFill/>
          <a:ln w="19050">
            <a:solidFill>
              <a:srgbClr val="2A4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1920240"/>
            <a:ext cx="640080" cy="914400"/>
          </a:xfrm>
          <a:prstGeom prst="line">
            <a:avLst/>
          </a:prstGeom>
          <a:noFill/>
          <a:ln w="19050">
            <a:solidFill>
              <a:srgbClr val="2A4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194560"/>
            <a:ext cx="731520" cy="640080"/>
          </a:xfrm>
          <a:prstGeom prst="line">
            <a:avLst/>
          </a:prstGeom>
          <a:noFill/>
          <a:ln w="19050">
            <a:solidFill>
              <a:srgbClr val="2A4A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0" y="2834640"/>
            <a:ext cx="731520" cy="182880"/>
          </a:xfrm>
          <a:prstGeom prst="line">
            <a:avLst/>
          </a:prstGeom>
          <a:noFill/>
          <a:ln w="19050">
            <a:solidFill>
              <a:srgbClr val="2A4A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46336" y="1042416"/>
            <a:ext cx="292608" cy="292608"/>
          </a:xfrm>
          <a:prstGeom prst="ellipse">
            <a:avLst/>
          </a:prstGeom>
          <a:solidFill>
            <a:srgbClr val="018BFF"/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35056" y="676656"/>
            <a:ext cx="292608" cy="292608"/>
          </a:xfrm>
          <a:prstGeom prst="ellipse">
            <a:avLst/>
          </a:prstGeom>
          <a:solidFill>
            <a:srgbClr val="00C1B6"/>
          </a:solidFill>
          <a:ln w="12700">
            <a:solidFill>
              <a:srgbClr val="00C1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92256" y="1773936"/>
            <a:ext cx="292608" cy="292608"/>
          </a:xfrm>
          <a:prstGeom prst="ellipse">
            <a:avLst/>
          </a:prstGeom>
          <a:solidFill>
            <a:srgbClr val="DA7194"/>
          </a:solidFill>
          <a:ln w="12700">
            <a:solidFill>
              <a:srgbClr val="DA71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20656" y="2048256"/>
            <a:ext cx="292608" cy="292608"/>
          </a:xfrm>
          <a:prstGeom prst="ellipse">
            <a:avLst/>
          </a:prstGeom>
          <a:solidFill>
            <a:srgbClr val="C990C0"/>
          </a:solidFill>
          <a:ln w="12700">
            <a:solidFill>
              <a:srgbClr val="C990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52176" y="2688336"/>
            <a:ext cx="292608" cy="292608"/>
          </a:xfrm>
          <a:prstGeom prst="ellipse">
            <a:avLst/>
          </a:prstGeom>
          <a:solidFill>
            <a:srgbClr val="F79767"/>
          </a:solidFill>
          <a:ln w="12700">
            <a:solidFill>
              <a:srgbClr val="F797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83696" y="2871216"/>
            <a:ext cx="292608" cy="292608"/>
          </a:xfrm>
          <a:prstGeom prst="ellipse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ENGINEER TECHNICAL ASSIGNMENT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5146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Fraud Graph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594360" y="3246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Walkthrough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a synthetic payments dataset, proposing a Neo4j graph model for fraud detection, and walking through the reasoning behind it.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2286000" cy="9144"/>
          </a:xfrm>
          <a:prstGeom prst="line">
            <a:avLst/>
          </a:prstGeom>
          <a:noFill/>
          <a:ln w="25400">
            <a:solidFill>
              <a:srgbClr val="018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486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Solutions Engineer — Candidate Presentation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 Placeholder]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I'll Walk Through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04088" y="1993392"/>
            <a:ext cx="512064" cy="512064"/>
          </a:xfrm>
          <a:prstGeom prst="ellipse">
            <a:avLst/>
          </a:prstGeom>
          <a:solidFill>
            <a:srgbClr val="018BFF"/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21031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Approach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2585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got here, and what this talk will (and won't) show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0120" y="2642616"/>
            <a:ext cx="9144" cy="201168"/>
          </a:xfrm>
          <a:prstGeom prst="line">
            <a:avLst/>
          </a:prstGeom>
          <a:noFill/>
          <a:ln w="19050">
            <a:solidFill>
              <a:srgbClr val="E1E1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2834640"/>
            <a:ext cx="512064" cy="512064"/>
          </a:xfrm>
          <a:prstGeom prst="ellipse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94436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27157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Dataset Review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309981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entities, relationships, and patterns in the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0120" y="3483864"/>
            <a:ext cx="9144" cy="201168"/>
          </a:xfrm>
          <a:prstGeom prst="line">
            <a:avLst/>
          </a:prstGeom>
          <a:noFill/>
          <a:ln w="19050">
            <a:solidFill>
              <a:srgbClr val="E1E1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3675888"/>
            <a:ext cx="512064" cy="512064"/>
          </a:xfrm>
          <a:prstGeom prst="ellipse">
            <a:avLst/>
          </a:prstGeom>
          <a:solidFill>
            <a:srgbClr val="DA7194"/>
          </a:solidFill>
          <a:ln w="12700">
            <a:solidFill>
              <a:srgbClr val="DA71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78561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355701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— Data Model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394106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graph model, transaction design, trade-offs, alternative considered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0120" y="4325112"/>
            <a:ext cx="9144" cy="201168"/>
          </a:xfrm>
          <a:prstGeom prst="line">
            <a:avLst/>
          </a:prstGeom>
          <a:noFill/>
          <a:ln w="19050">
            <a:solidFill>
              <a:srgbClr val="E1E1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4517136"/>
            <a:ext cx="512064" cy="512064"/>
          </a:xfrm>
          <a:prstGeom prst="ellipse">
            <a:avLst/>
          </a:prstGeom>
          <a:solidFill>
            <a:srgbClr val="F79767"/>
          </a:solidFill>
          <a:ln w="12700">
            <a:solidFill>
              <a:srgbClr val="F797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462686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54480" y="43982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54480" y="47823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answered through graph traversals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60120" y="5166360"/>
            <a:ext cx="9144" cy="201168"/>
          </a:xfrm>
          <a:prstGeom prst="line">
            <a:avLst/>
          </a:prstGeom>
          <a:noFill/>
          <a:ln w="19050">
            <a:solidFill>
              <a:srgbClr val="E1E1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" y="5358384"/>
            <a:ext cx="512064" cy="512064"/>
          </a:xfrm>
          <a:prstGeom prst="ellipse">
            <a:avLst/>
          </a:prstGeom>
          <a:solidFill>
            <a:srgbClr val="C990C0"/>
          </a:solidFill>
          <a:ln w="12700">
            <a:solidFill>
              <a:srgbClr val="C990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546811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54480" y="52395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54480" y="5623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and discussion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MODEL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 ·  BACKGROUND &amp;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I'm Starting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96596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not a Neo4j / graph database expert — this is genuinely new territory for me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an agentic AI workflow to accelerate building a first-pass model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validated my own thinking against other AI models and my own research — visible in the commit history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talk shows my thought process, not the polished deck I'd give a customer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60920" y="1920240"/>
            <a:ext cx="4251960" cy="3977640"/>
          </a:xfrm>
          <a:prstGeom prst="roundRect">
            <a:avLst>
              <a:gd name="adj" fmla="val 1839"/>
            </a:avLst>
          </a:prstGeom>
          <a:solidFill>
            <a:srgbClr val="F3F3F0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35240" y="21488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SHOW WORKING, NOT A FINISHED DECK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35240" y="260604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customer-facing deck hides the reasoning behind a confident answer. For an interview, the reasoning is the point — so I've kept the rough edges in.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635240" y="4160520"/>
            <a:ext cx="3657600" cy="9144"/>
          </a:xfrm>
          <a:prstGeom prst="line">
            <a:avLst/>
          </a:prstGeom>
          <a:noFill/>
          <a:ln w="12700">
            <a:solidFill>
              <a:srgbClr val="E1E1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434340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next two slides sets the frame for how to read the rest of this deck.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MODEL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 ·  BACKGROUND &amp;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Want This to Demonstrate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EAF6EC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2185416"/>
            <a:ext cx="292608" cy="292608"/>
          </a:xfrm>
          <a:prstGeom prst="ellipse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148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9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CAN SHOW YOU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lets me pick up a new technology like Neo4j quickly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thinking and logical reasoning, applied to an unfamiliar domain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and experience used to reason about trade-offs, even without deep product knowledge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FDF1E9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28816" y="2185416"/>
            <a:ext cx="292608" cy="292608"/>
          </a:xfrm>
          <a:prstGeom prst="ellipse">
            <a:avLst/>
          </a:prstGeom>
          <a:solidFill>
            <a:srgbClr val="F79767"/>
          </a:solidFill>
          <a:ln w="12700">
            <a:solidFill>
              <a:srgbClr val="F797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148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PROBABLY CAN'T (YET)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27432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detailed, seasoned understanding of Neo4j-specific modelling trade-offs — I simply don't have the reps yet to know every pattern's failure mode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B1B2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4864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aim of this session: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you through my approach to the problem — not to claim mastery I don't have.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MODEL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 ·  AI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Used AI in This Process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F3F3F0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76272"/>
            <a:ext cx="402336" cy="402336"/>
          </a:xfrm>
          <a:prstGeom prst="ellipse">
            <a:avLst/>
          </a:prstGeom>
          <a:solidFill>
            <a:srgbClr val="018BFF"/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21284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agentic workflow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+ OpenRouter + DeepSeek 3.2 — a deliberate cost-vs-quality compromise, not a default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96596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F3F3F0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9312" y="2176272"/>
            <a:ext cx="402336" cy="402336"/>
          </a:xfrm>
          <a:prstGeom prst="ellipse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221284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743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it in context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57600" y="32918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Supplied the brief, AI usage policy, and Neo4j modelling references; reviewed the AI-generated AGENTS.md before proceeding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96596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F3F3F0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2176272"/>
            <a:ext cx="402336" cy="402336"/>
          </a:xfrm>
          <a:prstGeom prst="ellipse">
            <a:avLst/>
          </a:prstGeom>
          <a:solidFill>
            <a:srgbClr val="DA7194"/>
          </a:solidFill>
          <a:ln w="12700">
            <a:solidFill>
              <a:srgbClr val="DA71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221284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743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the reasoning visible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2240" y="32918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working/logic in prompts.md and committed at each stage, so the thinking is auditable, not just the output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98280" y="196596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F3F3F0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08592" y="2176272"/>
            <a:ext cx="402336" cy="402336"/>
          </a:xfrm>
          <a:prstGeom prst="ellipse">
            <a:avLst/>
          </a:prstGeom>
          <a:solidFill>
            <a:srgbClr val="F79767"/>
          </a:solidFill>
          <a:ln w="12700">
            <a:solidFill>
              <a:srgbClr val="F797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221284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0" y="2743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every draft myself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26880" y="32918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reviewed the generated model_proposal_DRAFT rather than accepting it as-is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4892040"/>
            <a:ext cx="11018520" cy="1508760"/>
          </a:xfrm>
          <a:prstGeom prst="roundRect">
            <a:avLst>
              <a:gd name="adj" fmla="val 4848"/>
            </a:avLst>
          </a:prstGeom>
          <a:solidFill>
            <a:srgbClr val="FDF1E9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50292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1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CONCRETE EXAMPLE OF WHY THE REVIEW STEP MATTERS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68680" y="5349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draft modelled fraud as boolean properties on the Transaction node and treated Device/IP as an optional add-on rather than first-class entities. That didn't feel right for a fraud-detection use case, so I checked it against Neo4j modelling convention — labels for classification, first-class nodes for anything you need to query directly — and revised to the model on the following slides.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MODEL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DATASET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transaction records · 5 transaction types · 3 account categories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ENTITIES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04088" y="2258568"/>
            <a:ext cx="146304" cy="146304"/>
          </a:xfrm>
          <a:prstGeom prst="ellipse">
            <a:avLst/>
          </a:prstGeom>
          <a:solidFill>
            <a:srgbClr val="018BFF"/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21284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— 30 accounts (C-prefix); all 5 fraud transactions involve 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088" y="2715768"/>
            <a:ext cx="146304" cy="146304"/>
          </a:xfrm>
          <a:prstGeom prst="ellipse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67004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— 20 accounts (M-prefix); only ever a payment destination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4088" y="3172968"/>
            <a:ext cx="146304" cy="146304"/>
          </a:xfrm>
          <a:prstGeom prst="ellipse">
            <a:avLst/>
          </a:prstGeom>
          <a:solidFill>
            <a:srgbClr val="F79767"/>
          </a:solidFill>
          <a:ln w="12700">
            <a:solidFill>
              <a:srgbClr val="F797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12724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/ system accounts — 10 (C900-prefix); very large balances, CASH_IN/OUT liquidity pools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" y="3630168"/>
            <a:ext cx="146304" cy="146304"/>
          </a:xfrm>
          <a:prstGeom prst="ellipse">
            <a:avLst/>
          </a:prstGeom>
          <a:solidFill>
            <a:srgbClr val="E03131"/>
          </a:solidFill>
          <a:ln w="12700">
            <a:solidFill>
              <a:srgbClr val="E031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58444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— 20 unique devices; shared across accounts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" y="4087368"/>
            <a:ext cx="146304" cy="146304"/>
          </a:xfrm>
          <a:prstGeom prst="ellipse">
            <a:avLst/>
          </a:prstGeom>
          <a:solidFill>
            <a:srgbClr val="C990C0"/>
          </a:solidFill>
          <a:ln w="12700">
            <a:solidFill>
              <a:srgbClr val="C990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04164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IPAddress — 20 unique IPs; shared across accounts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TYPE → ACCOUNT-PAIR CONSTRAINTS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2240280"/>
            <a:ext cx="5212080" cy="384048"/>
          </a:xfrm>
          <a:prstGeom prst="roundRect">
            <a:avLst>
              <a:gd name="adj" fmla="val 9524"/>
            </a:avLst>
          </a:prstGeom>
          <a:solidFill>
            <a:srgbClr val="F3F3F0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240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CASH_IN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0" y="2240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→ Customer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2697480"/>
            <a:ext cx="5212080" cy="384048"/>
          </a:xfrm>
          <a:prstGeom prst="roundRect">
            <a:avLst>
              <a:gd name="adj" fmla="val 9524"/>
            </a:avLst>
          </a:prstGeom>
          <a:solidFill>
            <a:srgbClr val="F3F3F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697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CASH_OUT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0" y="2697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Customer/Merchant → System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3154680"/>
            <a:ext cx="5212080" cy="384048"/>
          </a:xfrm>
          <a:prstGeom prst="roundRect">
            <a:avLst>
              <a:gd name="adj" fmla="val 9524"/>
            </a:avLst>
          </a:prstGeom>
          <a:solidFill>
            <a:srgbClr val="F3F3F0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1546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0" y="3154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Merchant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55080" y="3611880"/>
            <a:ext cx="5212080" cy="384048"/>
          </a:xfrm>
          <a:prstGeom prst="roundRect">
            <a:avLst>
              <a:gd name="adj" fmla="val 9524"/>
            </a:avLst>
          </a:prstGeom>
          <a:solidFill>
            <a:srgbClr val="F3F3F0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36118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0" y="3611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Customer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4069080"/>
            <a:ext cx="5212080" cy="384048"/>
          </a:xfrm>
          <a:prstGeom prst="roundRect">
            <a:avLst>
              <a:gd name="adj" fmla="val 9524"/>
            </a:avLst>
          </a:prstGeom>
          <a:solidFill>
            <a:srgbClr val="F3F3F0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069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1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DEBIT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29600" y="40690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Merchant (balance +)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94360" y="4709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RELATIONSHIPS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50292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(Customer|Merchant) —[SENT]→ (Transaction)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(Transaction) —[RECEIVED_BY]→ (Customer|Merchant)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(Transaction) —[USED_DEVICE]→ (Device)   /   —[FROM_IP]→ (IPAddress)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5080" y="470916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583680" y="48920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update per-transaction on SENT/RECEIVED_BY, giving an exact audit trail: newBalance ≈ oldBalance ± amount holds across the sample.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MODEL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DATASET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&amp; Ambiguities Identified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3F3F0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2104" y="2203704"/>
            <a:ext cx="256032" cy="256032"/>
          </a:xfrm>
          <a:prstGeom prst="ellipse">
            <a:avLst/>
          </a:prstGeom>
          <a:solidFill>
            <a:srgbClr val="018BFF"/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1945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PATTERNS FOUND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balance sweeps (3): amount == oldbalanceOrg and newbalanceOrig == 0 — classic account takeover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fraud (2): smaller amounts, account not emptied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accounts share devices/IPs with other accounts — a mule-network signal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3F3F0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81144" y="2203704"/>
            <a:ext cx="256032" cy="256032"/>
          </a:xfrm>
          <a:prstGeom prst="ellipse">
            <a:avLst/>
          </a:prstGeom>
          <a:solidFill>
            <a:srgbClr val="F79767"/>
          </a:solidFill>
          <a:ln w="12700">
            <a:solidFill>
              <a:srgbClr val="F797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1945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79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AMBIGUITIES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17720" y="269748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balances are 0.0 for PAYMENT but populated for DEBIT — inconsistent tracking rule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DEBIT/CASH_OUT rows have amount = 0.0 — authorization or fee-only?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device_id/ip_address persistent per device, or per session?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transaction has isFlaggedFraud = 1 — business rule looks very conservative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9659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3F3F0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30184" y="2203704"/>
            <a:ext cx="256032" cy="256032"/>
          </a:xfrm>
          <a:prstGeom prst="ellipse">
            <a:avLst/>
          </a:prstGeom>
          <a:solidFill>
            <a:srgbClr val="DA7194"/>
          </a:solidFill>
          <a:ln w="12700">
            <a:solidFill>
              <a:srgbClr val="DA71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21945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DA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66760" y="269748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in the sample; balance arithmetic holds within floating-point tolerance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scale (100 rows, 5 fraud cases) limits statistical confidence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merchant metadata (category, location, size) supplied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MODEL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 ·  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Graph Data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03720" cy="3931920"/>
          </a:xfrm>
          <a:prstGeom prst="roundRect">
            <a:avLst>
              <a:gd name="adj" fmla="val 1860"/>
            </a:avLst>
          </a:prstGeom>
          <a:solidFill>
            <a:srgbClr val="F3F3F0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385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TRANSACTION-AS-NODE — STAR SCHEMA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737360" y="2697480"/>
            <a:ext cx="2240280" cy="868680"/>
          </a:xfrm>
          <a:prstGeom prst="line">
            <a:avLst/>
          </a:prstGeom>
          <a:noFill/>
          <a:ln w="22860">
            <a:solidFill>
              <a:srgbClr val="A5AB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737360" y="3566160"/>
            <a:ext cx="2240280" cy="914400"/>
          </a:xfrm>
          <a:prstGeom prst="line">
            <a:avLst/>
          </a:prstGeom>
          <a:noFill/>
          <a:ln w="22860">
            <a:solidFill>
              <a:srgbClr val="A5AB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3977640" y="2697480"/>
            <a:ext cx="2240280" cy="868680"/>
          </a:xfrm>
          <a:prstGeom prst="line">
            <a:avLst/>
          </a:prstGeom>
          <a:noFill/>
          <a:ln w="22860">
            <a:solidFill>
              <a:srgbClr val="A5AB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3566160"/>
            <a:ext cx="2240280" cy="914400"/>
          </a:xfrm>
          <a:prstGeom prst="line">
            <a:avLst/>
          </a:prstGeom>
          <a:noFill/>
          <a:ln w="22860">
            <a:solidFill>
              <a:srgbClr val="A5AB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1700" y="27477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 / RECEIVED_BY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03420" y="27660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USED_DEVICE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03420" y="41513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FROM_IP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426464" y="2386584"/>
            <a:ext cx="621792" cy="621792"/>
          </a:xfrm>
          <a:prstGeom prst="ellipse">
            <a:avLst/>
          </a:prstGeom>
          <a:solidFill>
            <a:srgbClr val="018BFF"/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30632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26464" y="4169664"/>
            <a:ext cx="621792" cy="621792"/>
          </a:xfrm>
          <a:prstGeom prst="ellipse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484632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93592" y="3182112"/>
            <a:ext cx="768096" cy="768096"/>
          </a:xfrm>
          <a:prstGeom prst="ellipse">
            <a:avLst/>
          </a:prstGeom>
          <a:solidFill>
            <a:srgbClr val="F79767"/>
          </a:solidFill>
          <a:ln w="12700">
            <a:solidFill>
              <a:srgbClr val="F797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79192" y="400507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0" y="2423160"/>
            <a:ext cx="548640" cy="548640"/>
          </a:xfrm>
          <a:prstGeom prst="ellipse">
            <a:avLst/>
          </a:prstGeom>
          <a:solidFill>
            <a:srgbClr val="E03131"/>
          </a:solidFill>
          <a:ln w="12700">
            <a:solidFill>
              <a:srgbClr val="E031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026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4206240"/>
            <a:ext cx="548640" cy="548640"/>
          </a:xfrm>
          <a:prstGeom prst="ellipse">
            <a:avLst/>
          </a:prstGeom>
          <a:solidFill>
            <a:srgbClr val="C990C0"/>
          </a:solidFill>
          <a:ln w="12700">
            <a:solidFill>
              <a:srgbClr val="C990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4809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IPAddress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1783080"/>
            <a:ext cx="3977640" cy="3931920"/>
          </a:xfrm>
          <a:prstGeom prst="roundRect">
            <a:avLst>
              <a:gd name="adj" fmla="val 186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909560" y="19385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MODEL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2402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arrows.app export supplied as 1_model.json / 1_model.svg alongside this deck.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09560" y="2880360"/>
            <a:ext cx="3383280" cy="9144"/>
          </a:xfrm>
          <a:prstGeom prst="line">
            <a:avLst/>
          </a:prstGeom>
          <a:noFill/>
          <a:ln w="12700">
            <a:solidFill>
              <a:srgbClr val="D3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30175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labels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9560" y="329184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:Customer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:Merchant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:Transaction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(+ :IsFraud, :IsFlaggedFraud)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:Device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:IPAddress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09560" y="4617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types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09560" y="48920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:SENT {balances}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:RECEIVED_BY {balances}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:USED_DEVICE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:FROM_IP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MODEL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 ·  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Modelling the Transaction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Chosen: Transaction-as-Node. Every CSV row becomes its own :Transaction node — the hub of a star schema connecting the paying account, the receiving account, the device, and the IP address.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69748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EAF6EC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8803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F9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— TRANSACTION AS A NODE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flipV="1">
            <a:off x="1463040" y="3840480"/>
            <a:ext cx="1554480" cy="457200"/>
          </a:xfrm>
          <a:prstGeom prst="line">
            <a:avLst/>
          </a:prstGeom>
          <a:noFill/>
          <a:ln w="20320">
            <a:solidFill>
              <a:srgbClr val="A5AB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3840480"/>
            <a:ext cx="1463040" cy="457200"/>
          </a:xfrm>
          <a:prstGeom prst="line">
            <a:avLst/>
          </a:prstGeom>
          <a:noFill/>
          <a:ln w="20320">
            <a:solidFill>
              <a:srgbClr val="A5AB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4059936"/>
            <a:ext cx="475488" cy="475488"/>
          </a:xfrm>
          <a:prstGeom prst="ellipse">
            <a:avLst/>
          </a:prstGeom>
          <a:solidFill>
            <a:srgbClr val="018BFF"/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459028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3566160"/>
            <a:ext cx="548640" cy="548640"/>
          </a:xfrm>
          <a:prstGeom prst="ellipse">
            <a:avLst/>
          </a:prstGeom>
          <a:solidFill>
            <a:srgbClr val="F79767"/>
          </a:solidFill>
          <a:ln w="12700">
            <a:solidFill>
              <a:srgbClr val="F797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4169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:Transaction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42816" y="4059936"/>
            <a:ext cx="475488" cy="475488"/>
          </a:xfrm>
          <a:prstGeom prst="ellipse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459028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502920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attribute (amount, type, fraud labels, device, IP) lives on one node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MATCH (t:Transaction {type:'PAYMENT'}) — no relationship-property scanning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changes captured exactly on SENT/RECEIVED_BY for a forensic audit trail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69748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F3F3F0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28803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— TRANSACTION AS A RELATIONSHIP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78040" y="4069080"/>
            <a:ext cx="2606040" cy="9144"/>
          </a:xfrm>
          <a:prstGeom prst="line">
            <a:avLst/>
          </a:prstGeom>
          <a:noFill/>
          <a:ln w="25400">
            <a:solidFill>
              <a:srgbClr val="A5AB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:TRANSFERS {amount, type, fraud, device, ip}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40296" y="3831336"/>
            <a:ext cx="475488" cy="475488"/>
          </a:xfrm>
          <a:prstGeom prst="ellipse">
            <a:avLst/>
          </a:prstGeom>
          <a:solidFill>
            <a:srgbClr val="018BFF"/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17336" y="436168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546336" y="3831336"/>
            <a:ext cx="475488" cy="475488"/>
          </a:xfrm>
          <a:prstGeom prst="ellipse">
            <a:avLst/>
          </a:prstGeom>
          <a:solidFill>
            <a:srgbClr val="018BFF"/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23376" y="436168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92240" y="502920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Piles device, IP, and fraud data onto relationship properties — property bloat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natural key/identity for a transaction, and no home for device/IP as queryable nodes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tracking needs 4 separate fields on one edge — messier than two clean edges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MODEL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 ·  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&amp; Trade-offs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920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MADE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331720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C900-prefix accounts are system/bank liquidity pools — currently modelled as :Customer, matching their C-prefix import rule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device_id / ip_address are persistent identifiers, enabling cross-account correlation rather than per-session IDs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isFlaggedFraud reflects a conservative, pre-existing business rule — not equivalent to isFraud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172200" y="1920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 MADE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72200" y="2331720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as node labels (:IsFraud, :IsFlaggedFraud), not boolean properties — faster label filtering, easy to add :Suspicious later, at the cost of label proliferation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Device/IP as required first-class nodes, not optional properties — enables direct correlation queries, at the cost of two extra node types to maintain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:Customer/:Merchant nodes, not one :Account{type} — clean type-safe queries, at the cost of more relationship variants to write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4754880"/>
            <a:ext cx="10972800" cy="1554480"/>
          </a:xfrm>
          <a:prstGeom prst="roundRect">
            <a:avLst>
              <a:gd name="adj" fmla="val 4706"/>
            </a:avLst>
          </a:prstGeom>
          <a:solidFill>
            <a:srgbClr val="FDF1E9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91947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C1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CAVEAT — WHERE I'D EXPECT PUSHBACK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5212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Folding C900 system accounts into :Customer is the assumption I'm least confident in — a separate :SystemAccount label would isolate liquidity-pool behaviour from real customer behaviour, but I don't yet know if that's overkill for this dataset's scale.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MODEL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 ·  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Alternative Considered — and Rejected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3F3F0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382012"/>
            <a:ext cx="219456" cy="21945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13055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APPROACH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2130552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(:Account {type: "CUSTOMER"|"MERCHANT"}) node instead of separate :Customer and :Merchant labels — one node type covering both roles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15468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3F3F0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3570732"/>
            <a:ext cx="219456" cy="219456"/>
          </a:xfrm>
          <a:prstGeom prst="ellipse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331927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WAS CONSIDERED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3319272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model with one fewer node type; still matches the C-/M-prefix split in the data via a property instead of a label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34340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3F3F0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96112" y="4759452"/>
            <a:ext cx="219456" cy="219456"/>
          </a:xfrm>
          <a:prstGeom prst="ellipse">
            <a:avLst/>
          </a:prstGeom>
          <a:solidFill>
            <a:srgbClr val="E03131"/>
          </a:solidFill>
          <a:ln w="12700">
            <a:solidFill>
              <a:srgbClr val="E031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450799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WAS REJECTED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4507992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needed a WHERE a.type = 'CUSTOMER' filter instead of a direct MATCH (c:Customer); it also blocked type-safe relationship constraints and made merchant-only attributes (like category) awkward to add later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MODEL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 ·  BUSINESS QUESTION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 Fund Flow with Device Correlation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customer accounts reachable within 3 transaction hops from a known fraud account, especially those sharing devices or IPs with it."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TRAVERSAL SKETCH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315468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the known fraud :Customer node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1-3 hops via [:SENT|RECEIVED_BY] to reach other Customers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 Transaction nodes crossed along each path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those transactions to shared Device nodes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and rank by shared-transaction count per device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2200" y="2788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CYPHER SKETCH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315468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0B1B2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333756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(fraud:Customer {customerId:$id})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path = (fraud)-[:SENT|RECEIVED_BY*1..3]-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(other:Customer)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other &lt;&gt; fraud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other, [n IN nodes(path) WHERE n:Transaction] AS txs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(tx:Transaction)-[:USED_DEVICE]-&gt;(d:Device)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tx IN txs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other, d, count(DISTINCT tx) AS sharedTx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sharedTx &gt;= $minShared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other.customerId, d.deviceId, sharedTx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sharedTx DESC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MODEL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 ·  BUSINESS QUESTION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Sweep Pattern Detection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TRANSFERs where the amount equals the origin account's entire balance, emptying it — classic account-takeover fraud."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TRAVERSAL SKETCH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315468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Customer —[:SENT]→ Transaction:IsFraud {type:'TRANSFER'}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sent.oldBalance ≈ amount AND sent.newBalance = 0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follow Transaction —[:USED_DEVICE]→ Device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follow Transaction —[:FROM_IP]→ IPAddress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account, amount, and session context, ranked by size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2200" y="2788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CYPHER SKETCH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315468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0B1B2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333756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(c:Customer)-[sent:SENT]-&gt;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(t:Transaction:IsFraud {type:'TRANSFER'})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abs(sent.oldBalance - t.amount) &lt; $tolerance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sent.newBalance = 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 MATCH (t)-[:USED_DEVICE]-&gt;(d:Device)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 MATCH (t)-[:FROM_IP]-&gt;(ip:IPAddress)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c.customerId, t.amount, t.step,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d.deviceId, ip.ipAddress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t.amount DESC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MODEL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 ·  BUSINESS QUESTION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Payment Anomalies with Session Risk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5400000">
              <a:srgbClr val="1E1E1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merchants receiving unusually large PAYMENTs from customers with recent fraud flags, especially via the same device."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TRAVERSAL SKETCH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315468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Customer —[:SENT]→ Transaction:IsFlaggedFraud (recent step)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same Customer —[:SENT]→ large PAYMENT Transaction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PAYMENT —[:RECEIVED_BY]→ Merchant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both transactions to share the same Device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compare IP addresses for extra corroboration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2200" y="2788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CYPHER SKETCH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315468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0B1B2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333756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(cust:Customer)-[:SENT]-&gt;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(flagged:Transaction:IsFlaggedFraud)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flagged.step &gt; $recentStep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(cust)-[:SENT]-&gt;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(payment:Transaction {type:'PAYMENT'})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payment.amount &gt; $largeAmount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(payment)-[:RECEIVED_BY]-&gt;(merchant:Merchant)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(flagged)-[:USED_DEVICE]-&gt;(d:Device)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(payment)-[:USED_DEVICE]-&gt;(d)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merchant.merchantId, payment.amount,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flagged.amount, d.deviceId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payment.amount DESC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5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MODEL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20640"/>
            <a:ext cx="1097280" cy="548640"/>
          </a:xfrm>
          <a:prstGeom prst="line">
            <a:avLst/>
          </a:prstGeom>
          <a:noFill/>
          <a:ln w="19050">
            <a:solidFill>
              <a:srgbClr val="2A4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914400" y="4572000"/>
            <a:ext cx="1463040" cy="548640"/>
          </a:xfrm>
          <a:prstGeom prst="line">
            <a:avLst/>
          </a:prstGeom>
          <a:noFill/>
          <a:ln w="19050">
            <a:solidFill>
              <a:srgbClr val="2A4A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1097280"/>
            <a:ext cx="1097280" cy="457200"/>
          </a:xfrm>
          <a:prstGeom prst="line">
            <a:avLst/>
          </a:prstGeom>
          <a:noFill/>
          <a:ln w="19050">
            <a:solidFill>
              <a:srgbClr val="2A4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058400" y="640080"/>
            <a:ext cx="914400" cy="457200"/>
          </a:xfrm>
          <a:prstGeom prst="line">
            <a:avLst/>
          </a:prstGeom>
          <a:noFill/>
          <a:ln w="19050">
            <a:solidFill>
              <a:srgbClr val="2A4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4992624"/>
            <a:ext cx="256032" cy="256032"/>
          </a:xfrm>
          <a:prstGeom prst="ellipse">
            <a:avLst/>
          </a:prstGeom>
          <a:solidFill>
            <a:srgbClr val="DA7194"/>
          </a:solidFill>
          <a:ln w="12700">
            <a:solidFill>
              <a:srgbClr val="DA71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83664" y="5541264"/>
            <a:ext cx="256032" cy="256032"/>
          </a:xfrm>
          <a:prstGeom prst="ellipse">
            <a:avLst/>
          </a:prstGeom>
          <a:solidFill>
            <a:srgbClr val="C990C0"/>
          </a:solidFill>
          <a:ln w="12700">
            <a:solidFill>
              <a:srgbClr val="C990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9424" y="4443984"/>
            <a:ext cx="256032" cy="256032"/>
          </a:xfrm>
          <a:prstGeom prst="ellipse">
            <a:avLst/>
          </a:prstGeom>
          <a:solidFill>
            <a:srgbClr val="018BFF"/>
          </a:solidFill>
          <a:ln w="12700">
            <a:solidFill>
              <a:srgbClr val="018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30384" y="969264"/>
            <a:ext cx="256032" cy="256032"/>
          </a:xfrm>
          <a:prstGeom prst="ellipse">
            <a:avLst/>
          </a:prstGeom>
          <a:solidFill>
            <a:srgbClr val="F79767"/>
          </a:solidFill>
          <a:ln w="12700">
            <a:solidFill>
              <a:srgbClr val="F7976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27664" y="1426464"/>
            <a:ext cx="256032" cy="256032"/>
          </a:xfrm>
          <a:prstGeom prst="ellipse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44784" y="512064"/>
            <a:ext cx="256032" cy="256032"/>
          </a:xfrm>
          <a:prstGeom prst="ellipse">
            <a:avLst/>
          </a:prstGeom>
          <a:solidFill>
            <a:srgbClr val="00C1B6"/>
          </a:solidFill>
          <a:ln w="12700">
            <a:solidFill>
              <a:srgbClr val="00C1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58368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pushback, and "here's where that model breaks" all welcome.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2286000" cy="9144"/>
          </a:xfrm>
          <a:prstGeom prst="line">
            <a:avLst/>
          </a:prstGeom>
          <a:noFill/>
          <a:ln w="25400">
            <a:solidFill>
              <a:srgbClr val="018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4805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placeholder]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[LinkedIn / contact placeholder]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prompts.md and commit history available on request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2026-08-03T06:56:47Z</dcterms:created>
  <dcterms:modified xsi:type="dcterms:W3CDTF">2026-08-03T06:56:47Z</dcterms:modified>
</cp:coreProperties>
</file>